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HACKATHON AI  ·  BATCH 03  ·  HƯỚNG C — LÀN MỞ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Tận Gốc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3B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RootReach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72491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5-why thích ứng — hỏi tới nguyên nhân can thiệp được,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vì dừng ở câu trả lời lịch sự.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6537960" cy="1965960"/>
          </a:xfrm>
          <a:prstGeom prst="roundRect">
            <a:avLst>
              <a:gd name="adj" fmla="val 4651"/>
            </a:avLst>
          </a:prstGeom>
          <a:solidFill>
            <a:srgbClr val="B7791F">
              <a:alpha val="18000"/>
            </a:srgbClr>
          </a:solidFill>
          <a:ln w="12700">
            <a:solidFill>
              <a:srgbClr val="765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 CẮT GIÁ TRỊ · MỘT CÂU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4279392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đang loay hoay xác định pain point phỏng vấn 5 người để tìm bằng chứng thật. AI quyết định câu hỏi tiếp theo là gì, và khi nào chain đã chạm nguyên nhân can thiệp được — không phải khi đã hỏi đủ 5 câu.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378440" y="1051560"/>
            <a:ext cx="0" cy="3840480"/>
          </a:xfrm>
          <a:prstGeom prst="line">
            <a:avLst/>
          </a:prstGeom>
          <a:noFill/>
          <a:ln w="19050">
            <a:solidFill>
              <a:srgbClr val="4A46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6940" y="480060"/>
            <a:ext cx="1143000" cy="1143000"/>
          </a:xfrm>
          <a:prstGeom prst="ellipse">
            <a:avLst/>
          </a:prstGeom>
          <a:solidFill>
            <a:srgbClr val="3330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85039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 chứng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912096" y="2048256"/>
            <a:ext cx="932688" cy="932688"/>
          </a:xfrm>
          <a:prstGeom prst="ellipse">
            <a:avLst/>
          </a:prstGeom>
          <a:solidFill>
            <a:srgbClr val="4A3F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3134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94392" y="3410712"/>
            <a:ext cx="768096" cy="768096"/>
          </a:xfrm>
          <a:prstGeom prst="ellipse">
            <a:avLst/>
          </a:prstGeom>
          <a:solidFill>
            <a:srgbClr val="76551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359359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76688" y="4590288"/>
            <a:ext cx="603504" cy="60350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7" name="Image 0" descr="/home/claude/pitch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7564" y="4741164"/>
            <a:ext cx="301752" cy="30175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0" y="469087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GỐC · can thiệp được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dừng ở câu trả lời lịch sự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loay hoay xác định pain point cho đề tài dự án — nhưng phỏng vấn thường dừng ở câu trả lời đủ lịch sự để kết thúc cuộc trò chuyện.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và checklist cố định không giải quyết được: form không thể đặt câu hỏi tiếp theo dựa trên câu trả lời vừa nhận.
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bằng chứng đủ sâu ⇒ chọn sai đề tài ⇒ làm lại từ đầu.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1600200"/>
            <a:ext cx="4983480" cy="4343400"/>
          </a:xfrm>
          <a:prstGeom prst="roundRect">
            <a:avLst>
              <a:gd name="adj" fmla="val 2105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8288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TĨNH · GOOGLE 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49440" y="2240280"/>
            <a:ext cx="3611880" cy="548640"/>
          </a:xfrm>
          <a:prstGeom prst="roundRect">
            <a:avLst>
              <a:gd name="adj" fmla="val 20000"/>
            </a:avLst>
          </a:prstGeom>
          <a:solidFill>
            <a:srgbClr val="EDEBE5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22402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có gặp khó khăn gì không?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2926080"/>
            <a:ext cx="36118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2926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“Có... hơi bất tiện.”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875520" y="28803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0" y="2880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0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 chứng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12864" y="3877056"/>
            <a:ext cx="566928" cy="566928"/>
          </a:xfrm>
          <a:prstGeom prst="ellipse">
            <a:avLst/>
          </a:prstGeom>
          <a:solidFill>
            <a:srgbClr val="A03D33"/>
          </a:solidFill>
          <a:ln/>
        </p:spPr>
      </p:sp>
      <p:pic>
        <p:nvPicPr>
          <p:cNvPr id="14" name="Image 0" descr="/home/claude/pitch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423" y="4004615"/>
            <a:ext cx="311810" cy="31181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589520" y="39136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A0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ở đây — không hỏi thêm được vì form là tĩnh, không đọc hiểu câu trả lời vừa nhận.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49440" y="5074920"/>
            <a:ext cx="4343400" cy="0"/>
          </a:xfrm>
          <a:prstGeom prst="line">
            <a:avLst/>
          </a:prstGeom>
          <a:noFill/>
          <a:ln w="12700">
            <a:solidFill>
              <a:srgbClr val="E3DFD6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949440" y="5212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Cách giải quyết ở slide tiếp theo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thử nghiệm — 8 người: hai nhóm rõ rệt tự hiện ra từ dữ liệu — có domain sẵn (~15 phút lấy pain) và chưa có domain (~4 tuần).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5-why thích ứng — do AI dẫn dắt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dừng ở “đã hỏi đủ 5 câu” — dừng khi chạm nguyên nhân có thể can thiệp được.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1188720" cy="1188720"/>
          </a:xfrm>
          <a:prstGeom prst="ellipse">
            <a:avLst/>
          </a:prstGeom>
          <a:solidFill>
            <a:srgbClr val="3A36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 chứng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2331720"/>
            <a:ext cx="2697480" cy="0"/>
          </a:xfrm>
          <a:prstGeom prst="line">
            <a:avLst/>
          </a:prstGeom>
          <a:noFill/>
          <a:ln w="22225">
            <a:solidFill>
              <a:srgbClr val="6B615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1737360"/>
            <a:ext cx="1188720" cy="1188720"/>
          </a:xfrm>
          <a:prstGeom prst="ellipse">
            <a:avLst/>
          </a:prstGeom>
          <a:solidFill>
            <a:srgbClr val="5A4A2E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2331720"/>
            <a:ext cx="2697480" cy="0"/>
          </a:xfrm>
          <a:prstGeom prst="line">
            <a:avLst/>
          </a:prstGeom>
          <a:noFill/>
          <a:ln w="22225">
            <a:solidFill>
              <a:srgbClr val="6B615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46920" y="1737360"/>
            <a:ext cx="1188720" cy="118872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2" name="Image 0" descr="/home/claude/pitch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3818" y="2064258"/>
            <a:ext cx="534924" cy="5349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23544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 · GỐC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2A2721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5256" y="4489704"/>
            <a:ext cx="658368" cy="65836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6" name="Image 1" descr="/home/claude/pitch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65429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4507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AI · 1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737360" y="47823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tiếp theo là gì?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14400" y="5303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từ nội dung câu trả lời vừa nhận — Google Form không làm được vì form là tĩnh.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63640" y="42519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2A2721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20256" y="4489704"/>
            <a:ext cx="658368" cy="65836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2" name="Image 2" descr="/home/claude/pitch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5429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52360" y="4507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AI · 2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452360" y="47823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này thuộc loại gì?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629400" y="5303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nhãn nguyên_nhân / điều_kiện / triệu_chứng, kèm cờ can_thiệp_được.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bước — một bước là AI thật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F5F3E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9324" y="2011680"/>
            <a:ext cx="731520" cy="731520"/>
          </a:xfrm>
          <a:prstGeom prst="ellipse">
            <a:avLst/>
          </a:prstGeom>
          <a:solidFill>
            <a:srgbClr val="D8D3C7"/>
          </a:solidFill>
          <a:ln/>
        </p:spPr>
      </p:sp>
      <p:pic>
        <p:nvPicPr>
          <p:cNvPr id="6" name="Image 0" descr="/home/claude/pitch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004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Sẽ hỏi ai?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00684" y="3840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FEDE7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08960" y="3017520"/>
            <a:ext cx="265176" cy="0"/>
          </a:xfrm>
          <a:prstGeom prst="line">
            <a:avLst/>
          </a:prstGeom>
          <a:noFill/>
          <a:ln w="19050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01568" y="1618488"/>
            <a:ext cx="2532888" cy="2798064"/>
          </a:xfrm>
          <a:prstGeom prst="roundRect">
            <a:avLst>
              <a:gd name="adj" fmla="val 3249"/>
            </a:avLst>
          </a:prstGeom>
          <a:solidFill>
            <a:srgbClr val="FBF2DE"/>
          </a:solidFill>
          <a:ln w="19050">
            <a:solidFill>
              <a:srgbClr val="B7791F"/>
            </a:solidFill>
            <a:prstDash val="solid"/>
          </a:ln>
          <a:effectLst>
            <a:outerShdw sx="100000" sy="100000" kx="0" ky="0" algn="bl" rotWithShape="0" blurRad="152400" dist="25400" dir="5400000">
              <a:srgbClr val="B7791F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02252" y="2011680"/>
            <a:ext cx="731520" cy="73152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5" name="Image 1" descr="/home/claude/pitch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220187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7932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38728" y="28803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5-why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38728" y="32461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tiếp theo + nhãn tầng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753612" y="3840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BF2DE"/>
          </a:solidFill>
          <a:ln/>
        </p:spPr>
      </p:sp>
      <p:sp>
        <p:nvSpPr>
          <p:cNvPr id="20" name="Text 16"/>
          <p:cNvSpPr/>
          <p:nvPr/>
        </p:nvSpPr>
        <p:spPr>
          <a:xfrm>
            <a:off x="3753612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· AI thật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61888" y="3017520"/>
            <a:ext cx="265176" cy="0"/>
          </a:xfrm>
          <a:prstGeom prst="line">
            <a:avLst/>
          </a:prstGeom>
          <a:noFill/>
          <a:ln w="19050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254496" y="169164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F5F3E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55180" y="2011680"/>
            <a:ext cx="731520" cy="731520"/>
          </a:xfrm>
          <a:prstGeom prst="ellipse">
            <a:avLst/>
          </a:prstGeom>
          <a:solidFill>
            <a:srgbClr val="9DB4C9"/>
          </a:solidFill>
          <a:ln/>
        </p:spPr>
      </p:sp>
      <p:pic>
        <p:nvPicPr>
          <p:cNvPr id="24" name="Image 2" descr="/home/claude/pitch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375" y="2201875"/>
            <a:ext cx="351130" cy="3511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8086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91656" y="28803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persona-out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391656" y="32461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cụm câu trả lời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606540" y="3840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/>
        </p:spPr>
      </p:sp>
      <p:sp>
        <p:nvSpPr>
          <p:cNvPr id="29" name="Text 24"/>
          <p:cNvSpPr/>
          <p:nvPr/>
        </p:nvSpPr>
        <p:spPr>
          <a:xfrm>
            <a:off x="660654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814816" y="3017520"/>
            <a:ext cx="265176" cy="0"/>
          </a:xfrm>
          <a:prstGeom prst="line">
            <a:avLst/>
          </a:prstGeom>
          <a:noFill/>
          <a:ln w="19050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9107424" y="169164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F5F3E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008108" y="2011680"/>
            <a:ext cx="731520" cy="731520"/>
          </a:xfrm>
          <a:prstGeom prst="ellipse">
            <a:avLst/>
          </a:prstGeom>
          <a:solidFill>
            <a:srgbClr val="9DB4C9"/>
          </a:solidFill>
          <a:ln/>
        </p:spPr>
      </p:sp>
      <p:pic>
        <p:nvPicPr>
          <p:cNvPr id="33" name="Image 3" descr="/home/claude/pitch/icons/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303" y="2201875"/>
            <a:ext cx="351130" cy="35113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733788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244584" y="28803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Sàng lọc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244584" y="32461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căn cứ chưa?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9459468" y="3840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/>
        </p:spPr>
      </p:sp>
      <p:sp>
        <p:nvSpPr>
          <p:cNvPr id="38" name="Text 32"/>
          <p:cNvSpPr/>
          <p:nvPr/>
        </p:nvSpPr>
        <p:spPr>
          <a:xfrm>
            <a:off x="9459468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47091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9F3EE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724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Đủ căn cứ</a:t>
            </a:r>
            <a:endParaRPr lang="en-US" sz="1450" dirty="0"/>
          </a:p>
        </p:txBody>
      </p:sp>
      <p:sp>
        <p:nvSpPr>
          <p:cNvPr id="41" name="Text 35"/>
          <p:cNvSpPr/>
          <p:nvPr/>
        </p:nvSpPr>
        <p:spPr>
          <a:xfrm>
            <a:off x="777240" y="51846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AI leverage (không cần AI) → Brainstorm MVP theo template — người dùng tự giữ quyền sở hữu ý tưởng.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263640" y="47091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BEAE8"/>
          </a:solidFill>
          <a:ln w="12700">
            <a:solidFill>
              <a:srgbClr val="A03D33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9224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0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Chưa đủ căn cứ</a:t>
            </a:r>
            <a:endParaRPr lang="en-US" sz="1450" dirty="0"/>
          </a:p>
        </p:txBody>
      </p:sp>
      <p:sp>
        <p:nvSpPr>
          <p:cNvPr id="44" name="Text 38"/>
          <p:cNvSpPr/>
          <p:nvPr/>
        </p:nvSpPr>
        <p:spPr>
          <a:xfrm>
            <a:off x="6492240" y="51846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vào sổ quyết định — lý do bỏ, để lần sau không đi lại đường cũ.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&amp; CHẤT LƯỢNG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chỉ là demo — có tiêu chí đo được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2888" cy="2331720"/>
          </a:xfrm>
          <a:prstGeom prst="roundRect">
            <a:avLst>
              <a:gd name="adj" fmla="val 3529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911096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/home/claude/pitch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0528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khảo sát thật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trực tiếp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691640"/>
            <a:ext cx="2532888" cy="2331720"/>
          </a:xfrm>
          <a:prstGeom prst="roundRect">
            <a:avLst>
              <a:gd name="adj" fmla="val 3529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4548" y="1911096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1" name="Image 1" descr="/home/claude/pitch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5282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5603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≥70%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584448" y="338328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nhãn tầng cuối,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người ngoài nhóm chấm độc lập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532888" cy="2331720"/>
          </a:xfrm>
          <a:prstGeom prst="roundRect">
            <a:avLst>
              <a:gd name="adj" fmla="val 3529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7476" y="1911096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6" name="Image 2" descr="/home/claude/pitch/icons/check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0528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5603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437376" y="338328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trong golden set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thật + ~11 tổng hợp)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07424" y="1691640"/>
            <a:ext cx="2532888" cy="2331720"/>
          </a:xfrm>
          <a:prstGeom prst="roundRect">
            <a:avLst>
              <a:gd name="adj" fmla="val 3529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90404" y="1911096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1" name="Image 3" descr="/home/claude/pitch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05282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25603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9290304" y="338328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không chứa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mớm đáp án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FBF7EE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4526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TRUNG THỰC CỦA GOLDEN SET — LỖI ĐÃ BIẾT TRƯỚC, KHÔNG GIẤU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22960" y="486460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môi trường” bị gán nhầm thành điều kiện, không phải nguyên nhân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đến từ chính người hỏi, không phải người trả lời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“Vương” không phải một why-chain thật — nghe hợp lý nhưng sai đối tượng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7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9 chain thật đều thiếu ô “hậu quả”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&amp; ĐỀ XUẤT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 bước là AI thật — cần gì để đi tiếp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8606" cy="502920"/>
          </a:xfrm>
          <a:prstGeom prst="roundRect">
            <a:avLst>
              <a:gd name="adj" fmla="val 10909"/>
            </a:avLst>
          </a:prstGeom>
          <a:solidFill>
            <a:srgbClr val="6B61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258568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persona-in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94406" y="1691640"/>
            <a:ext cx="2108606" cy="502920"/>
          </a:xfrm>
          <a:prstGeom prst="roundRect">
            <a:avLst>
              <a:gd name="adj" fmla="val 10909"/>
            </a:avLst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2794406" y="169164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94406" y="2258568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Khảo sát 5-why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40173" y="1691640"/>
            <a:ext cx="2108606" cy="502920"/>
          </a:xfrm>
          <a:prstGeom prst="roundRect">
            <a:avLst>
              <a:gd name="adj" fmla="val 10909"/>
            </a:avLst>
          </a:prstGeom>
          <a:solidFill>
            <a:srgbClr val="4A6A8A"/>
          </a:solidFill>
          <a:ln/>
        </p:spPr>
      </p:sp>
      <p:sp>
        <p:nvSpPr>
          <p:cNvPr id="11" name="Text 9"/>
          <p:cNvSpPr/>
          <p:nvPr/>
        </p:nvSpPr>
        <p:spPr>
          <a:xfrm>
            <a:off x="5040173" y="169164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0173" y="2258568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persona-out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85939" y="1691640"/>
            <a:ext cx="2108606" cy="502920"/>
          </a:xfrm>
          <a:prstGeom prst="roundRect">
            <a:avLst>
              <a:gd name="adj" fmla="val 10909"/>
            </a:avLst>
          </a:prstGeom>
          <a:solidFill>
            <a:srgbClr val="4A6A8A"/>
          </a:solidFill>
          <a:ln/>
        </p:spPr>
      </p:sp>
      <p:sp>
        <p:nvSpPr>
          <p:cNvPr id="14" name="Text 12"/>
          <p:cNvSpPr/>
          <p:nvPr/>
        </p:nvSpPr>
        <p:spPr>
          <a:xfrm>
            <a:off x="7285939" y="169164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85939" y="2258568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Sàng lọc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31706" y="1691640"/>
            <a:ext cx="2108606" cy="502920"/>
          </a:xfrm>
          <a:prstGeom prst="roundRect">
            <a:avLst>
              <a:gd name="adj" fmla="val 10909"/>
            </a:avLst>
          </a:prstGeom>
          <a:solidFill>
            <a:srgbClr val="6B6152"/>
          </a:solidFill>
          <a:ln/>
        </p:spPr>
      </p:sp>
      <p:sp>
        <p:nvSpPr>
          <p:cNvPr id="17" name="Text 15"/>
          <p:cNvSpPr/>
          <p:nvPr/>
        </p:nvSpPr>
        <p:spPr>
          <a:xfrm>
            <a:off x="9531706" y="169164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31706" y="2258568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Checklist + MVP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HỖ TRỢ GÌ TỪ BTC / TRỢ GIẢNG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2A2721"/>
          </a:solidFill>
          <a:ln/>
        </p:spPr>
      </p:sp>
      <p:pic>
        <p:nvPicPr>
          <p:cNvPr id="21" name="Image 0" descr="/home/claude/pitch/icons/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3643884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34440" y="352044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golden set đủ 20 case (hiện có 9 case thật + cần ~11 case tổng hợp).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2A2721"/>
          </a:solidFill>
          <a:ln/>
        </p:spPr>
      </p:sp>
      <p:pic>
        <p:nvPicPr>
          <p:cNvPr id="24" name="Image 1" descr="/home/claude/pitch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192524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40690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chấm độc lập: tìm 2 người ngoài nhóm và cách tính % khớp nhãn chuẩn.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2A2721"/>
          </a:solidFill>
          <a:ln/>
        </p:spPr>
      </p:sp>
      <p:pic>
        <p:nvPicPr>
          <p:cNvPr id="27" name="Image 2" descr="/home/claude/pitch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741164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34440" y="461772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lại rule ở persona-out &amp; sàng lọc (Bước 2, 3) ngoài phạm vi 9 case thật.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B7791F">
              <a:alpha val="15000"/>
            </a:srgbClr>
          </a:solidFill>
          <a:ln w="12700">
            <a:solidFill>
              <a:srgbClr val="76551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4400" y="5669280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31" name="Image 3" descr="/home/claude/pitch/icon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78358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08760" y="54406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Tận Gốc không chọn đề tài hộ bạn — nó buộc bạn phải có bằng chứng trước khi chọn.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2026-07-30T18:19:38Z</dcterms:created>
  <dcterms:modified xsi:type="dcterms:W3CDTF">2026-07-30T18:19:38Z</dcterms:modified>
</cp:coreProperties>
</file>